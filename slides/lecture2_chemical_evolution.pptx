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0:00. Slido code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0:01. Three-question quiz in Slido (set up as three separate questions).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0:07. Expect: Big Bang (H), stars, supernovae. Then reveal the periodic table of origins.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0:10. Big Bang (H, He, Li), dying low-mass stars (AGB: C, N, s-process), exploding massive stars (O, Mg, Si, Ca), exploding white dwarfs (Fe, Ni), merging neutron stars (r-process).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0:24. Answer −1.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0:27–0:40. Draw it on the board together. Closed box: Z = y·ln(1/μ) → too many metal-poor G dwarfs (G-dwarf problem) → we need inflow. One sentence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0:40. Before the game, so students know the rules of nature they are playing.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0:43–0:55. Hand out the tally sheet. Log table: 3→+0.48, 2→+0.30, 1.5→+0.18, 1.2→+0.08, 1→0, 0.75→−0.12.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0:53. Fast ≈ +0.40, Steady ≈ +0.18; all 8 units in round 1 gives +0.48 (the winner).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1:00. Answer: lower [Fe/H].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1:05–1:15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1:15. The elliptical's stars stay α-rich because star formation stopped before SN Ia caught up.</a:t>
            </a:r>
          </a:p>
          <a:p/>
          <a:p>
            <a:r>
              <a:t>Caption: Toy one-zone model (notebook 03): elliptical (fast, quenched at 0.5 Gyr), Milky-Way-like disc, slow leaky dwarf.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1:22. Answer: up — more of the most massive SN II, which make the most Mg per 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1:24. The degeneracy: high [Mg/Fe] = fast star formation OR top-heavy IMF.</a:t>
            </a:r>
          </a:p>
          <a:p/>
          <a:p>
            <a:r>
              <a:t>Caption: Same Milky-Way-like model, high-mass IMF slope from 1.9 (top-heavy) to 2.7 (top-light).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1:28. What galevo adds: lifetimes, metallicity-dependent yields, many elements, SN Ia DTD, and a galaxy-wide IMF from the IGIMF theory. github.com/Azeret/galIMF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1:33</a:t>
            </a:r>
          </a:p>
          <a:p/>
          <a:p>
            <a:r>
              <a:t>Caption: galevo, 3×10⁹ M☉ formed with a flat SFH over 30 Myr, 300 Myr, 3 Gyr; Kroupa IMF vs IGIMF.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1:38. Answer: 30 Myr &gt; 300 Myr &gt; 3 Gyr.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1:40. Use S2.8 here: 'Track A with a knee at [Fe/H] ≈ −2 belongs to…' (dwarf spheroidal).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1:45. Answer: dwarf spheroidal.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1:52. Thomas+2005: more massive ellipticals are more α-enhanced → formed faster (downsizing). With the IGIMF: top-heavy early (starburst) and bottom-heavy later (metal-rich) can do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2:00. Answer ~1 Gyr — with the IMF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2:04–2:14. Debate: two camps, 3 min preparation, 2 min each, then vote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160"/>
              </a:spcAft>
            </a:pPr>
            <a:r>
              <a:rPr sz="4800" b="1" i="0">
                <a:solidFill>
                  <a:srgbClr val="1E8FD5"/>
                </a:solidFill>
                <a:latin typeface="Montserrat"/>
              </a:rPr>
              <a:t>Chemical evolution &amp; the [Mg/Fe]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Lecture 2 — How do you read a galaxy's clock from its chemistry?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 i="0">
                <a:solidFill>
                  <a:srgbClr val="9A9AB5"/>
                </a:solidFill>
                <a:latin typeface="Montserrat"/>
              </a:rPr>
              <a:t>Dr. Tereza Jeřábková</a:t>
            </a:r>
          </a:p>
          <a:p>
            <a:pPr algn="l">
              <a:spcAft>
                <a:spcPts val="810"/>
              </a:spcAft>
            </a:pPr>
            <a:r>
              <a:rPr sz="1800" b="0" i="0">
                <a:solidFill>
                  <a:srgbClr val="9A9AB5"/>
                </a:solidFill>
                <a:latin typeface="Montserrat"/>
              </a:rPr>
              <a:t>Galaxies course · Masaryk University · ÚTFA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S2.1 ·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Recap: in which year did Salpeter publish the IMF?  Where is most of the stellar mass?  How does M/L depend on the IMF slope?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1955 · low-mass stars · U-shape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1975 · massive stars · rising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1955 · massive stars · falling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S2.2 · word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Name one element in your body — and where was it made?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011680"/>
            <a:ext cx="9418320" cy="2834640"/>
          </a:xfrm>
          <a:prstGeom prst="roundRect">
            <a:avLst/>
          </a:prstGeom>
          <a:noFill/>
          <a:ln w="38100">
            <a:solidFill>
              <a:srgbClr val="F5A62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2286000"/>
            <a:ext cx="8686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→ insert your slides here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the periodic table of element origins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from: Johnson (2019, Science 363, 474) / NASA, CC BY-SA — download and place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[X/H] = log₁₀(N_X/N_H) − log₁₀(N_X/N_H)☉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[Mg/Fe] = [Mg/H] − [Fe/H]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[Fe/H] = −1 → one tenth of the solar iron per hydrogen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Z = mass fraction of all metals (Sun: Z ≈ 0.013–0.014, Asplund+2009)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[α/Fe] &gt; 0 → more O, Mg, Si, Ca per Fe than the Sun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S2.3 ·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A star has 1/10 of the solar Fe/H. Its [Fe/H] is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−1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−0.1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0.1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D   −10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20"/>
              </a:spcAft>
            </a:pPr>
            <a:r>
              <a:rPr sz="9600" b="1" i="0">
                <a:solidFill>
                  <a:srgbClr val="1E8FD5"/>
                </a:solidFill>
                <a:latin typeface="Montserrat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28600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The galaxy as a bathtub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9184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1">
                <a:solidFill>
                  <a:srgbClr val="9A9AB5"/>
                </a:solidFill>
                <a:latin typeface="Montserrat"/>
              </a:rPr>
              <a:t>What goes in, what comes out, what stays?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The one-zone (bathtub) model</a:t>
            </a:r>
          </a:p>
        </p:txBody>
      </p:sp>
      <p:pic>
        <p:nvPicPr>
          <p:cNvPr id="3" name="Picture 2" descr="s2_batht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9601200" cy="5400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9A9AB5"/>
                </a:solidFill>
                <a:latin typeface="Montserrat"/>
              </a:rPr>
              <a:t>dM_gas/dt = inflow − (1−R)·SFR − η·SFR      dM_X/dt = −(1−R+η)·SFR·X_gas + yields(SN II, SN Ia, AGB)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20"/>
              </a:spcAft>
            </a:pPr>
            <a:r>
              <a:rPr sz="9600" b="1" i="0">
                <a:solidFill>
                  <a:srgbClr val="1E8FD5"/>
                </a:solidFill>
                <a:latin typeface="Montserrat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28600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Two kinds of supernovae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9184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1">
                <a:solidFill>
                  <a:srgbClr val="9A9AB5"/>
                </a:solidFill>
                <a:latin typeface="Montserrat"/>
              </a:rPr>
              <a:t>Why is the ratio of magnesium to iron a clock?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Prompt and delayed enrichment</a:t>
            </a:r>
          </a:p>
        </p:txBody>
      </p:sp>
      <p:pic>
        <p:nvPicPr>
          <p:cNvPr id="3" name="Picture 2" descr="s3_sn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9601200" cy="5400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9A9AB5"/>
                </a:solidFill>
                <a:latin typeface="Montserrat"/>
              </a:rPr>
              <a:t>SN II: within ~40 Myr, Mg-rich.  SN Ia: delay-time distribution ~1/t from ~40 Myr to a Hubble time, Fe-rich.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Game 2 — the cosmic kitchen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Your team is a galaxy with 8 units of star formation for 8 rounds (1 round ≈ 250 Myr).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Each round: (1) add the Fe from SN Ia due now; (2) form stars: +3 Mg and +1 Fe per unit (SN II);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book SN Ia: +1 Fe next round, +1 Fe the round after, +1 Fe four rounds later;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(3) write down Mg/Fe in your pot → [Mg/Fe] = log(Mg/Fe).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Fast: 4 + 4 units in rounds 1–2.  Steady: 1 unit per round.  Free: beat Fast!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S2.4 · open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Your team's mass-weighted [Mg/Fe] of the stars you formed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The plateau and the knee</a:t>
            </a:r>
          </a:p>
        </p:txBody>
      </p:sp>
      <p:pic>
        <p:nvPicPr>
          <p:cNvPr id="3" name="Picture 2" descr="s4_knee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9601200" cy="5400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9A9AB5"/>
                </a:solidFill>
                <a:latin typeface="Montserrat"/>
              </a:rPr>
              <a:t>Plateau: SN II only.  Knee: SN Ia catch up.  Its [Fe/H] tells how fast metals built up before ~1 Gyr.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S2.5 · 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A dwarf galaxy forms stars slowly. Its [Mg/Fe] knee sits at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lower [Fe/H]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the same [Fe/H]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higher [Fe/H]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10 minutes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80"/>
              </a:spcAft>
            </a:pPr>
            <a:r>
              <a:rPr sz="2400" b="0" i="0">
                <a:solidFill>
                  <a:srgbClr val="9A9AB5"/>
                </a:solidFill>
                <a:latin typeface="Montserrat"/>
              </a:rPr>
              <a:t>Puzzle: could a galaxy have [Mg/Fe] above the SN II plateau?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6_mgfe_clock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5760" y="182880"/>
            <a:ext cx="11457432" cy="6446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S2.6 · 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Make the IMF top-heavy. The [Mg/Fe] plateau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goes up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goes down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stays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7_mgfe_imf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5760" y="182880"/>
            <a:ext cx="11457432" cy="6446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320"/>
              </a:spcAft>
            </a:pPr>
            <a:r>
              <a:rPr sz="9600" b="1" i="0">
                <a:solidFill>
                  <a:srgbClr val="1E8FD5"/>
                </a:solidFill>
                <a:latin typeface="Montserrat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228600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Real models: galevo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291840"/>
            <a:ext cx="9509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1">
                <a:solidFill>
                  <a:srgbClr val="9A9AB5"/>
                </a:solidFill>
                <a:latin typeface="Montserrat"/>
              </a:rPr>
              <a:t>Does it hold up with real stellar lifetimes and yields?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011680"/>
            <a:ext cx="9418320" cy="2834640"/>
          </a:xfrm>
          <a:prstGeom prst="roundRect">
            <a:avLst/>
          </a:prstGeom>
          <a:noFill/>
          <a:ln w="38100">
            <a:solidFill>
              <a:srgbClr val="F5A62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2286000"/>
            <a:ext cx="8686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→ insert your slides here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GalIMF / galevo: modular open-source code, IGIMF theory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from: Canva ‘ISTA seminar’, slides 42–45 (and 48: galaxy-wide IMF variations)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57432" cy="6446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 i="0">
                <a:solidFill>
                  <a:srgbClr val="9A9AB5"/>
                </a:solidFill>
                <a:latin typeface="Montserrat"/>
              </a:rPr>
              <a:t>[missing: a8_galevo_tracks_final.png]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S2.7 ·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Rank by the [Mg/Fe] of their stars: formed in 30 Myr / 300 Myr / 3 Gyr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011680"/>
            <a:ext cx="9418320" cy="2834640"/>
          </a:xfrm>
          <a:prstGeom prst="roundRect">
            <a:avLst/>
          </a:prstGeom>
          <a:noFill/>
          <a:ln w="38100">
            <a:solidFill>
              <a:srgbClr val="F5A62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2286000"/>
            <a:ext cx="8686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→ insert your slides here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observations: Milky Way thick vs thin disc (APOGEE), dwarf spheroidals with a low knee (Tolstoy+2009)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from: literature figures — add your favourites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S2.8 · 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Track A has its knee at [Fe/H] ≈ −2. It belongs to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a dwarf spheroidal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the Milky Way thick disc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a giant elliptical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2011680"/>
            <a:ext cx="9418320" cy="2834640"/>
          </a:xfrm>
          <a:prstGeom prst="roundRect">
            <a:avLst/>
          </a:prstGeom>
          <a:noFill/>
          <a:ln w="38100">
            <a:solidFill>
              <a:srgbClr val="F5A62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2286000"/>
            <a:ext cx="8686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→ insert your slides here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ellipticals: [Mg/Fe]–mass, formation timescales, time-variable IMF (Yan, Jeřábková+2019, 2021)</a:t>
            </a:r>
          </a:p>
          <a:p>
            <a:pPr algn="ctr">
              <a:spcAft>
                <a:spcPts val="1260"/>
              </a:spcAft>
            </a:pPr>
            <a:r>
              <a:rPr sz="2800" b="1" i="0">
                <a:solidFill>
                  <a:srgbClr val="F5A623"/>
                </a:solidFill>
                <a:latin typeface="Montserrat"/>
              </a:rPr>
              <a:t>from: Canva ‘ISTA seminar’, slides 52–57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S2.9 · 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Massive ellipticals have [Mg/Fe] ≈ +0.3. Their stars formed within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~1 Gyr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~5 Gyr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&gt;10 Gyr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3840480" cy="548640"/>
          </a:xfrm>
          <a:prstGeom prst="roundRect">
            <a:avLst/>
          </a:prstGeom>
          <a:solidFill>
            <a:srgbClr val="5CC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1B1A2E"/>
                </a:solidFill>
                <a:latin typeface="Montserrat"/>
              </a:rPr>
              <a:t>Slido S2.10 · poll (before and after)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4F4F6"/>
                </a:solidFill>
                <a:latin typeface="Montserrat"/>
              </a:rPr>
              <a:t>Is the IMF universal?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A   yes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B   no</a:t>
            </a:r>
          </a:p>
          <a:p>
            <a:pPr algn="l">
              <a:spcAft>
                <a:spcPts val="1170"/>
              </a:spcAft>
            </a:pPr>
            <a:r>
              <a:rPr sz="2600" b="0" i="0">
                <a:solidFill>
                  <a:srgbClr val="F4F4F6"/>
                </a:solidFill>
                <a:latin typeface="Montserrat"/>
              </a:rPr>
              <a:t>C   it depends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10"/>
              </a:spcAft>
            </a:pPr>
            <a:r>
              <a:rPr sz="1800" b="1" i="0">
                <a:solidFill>
                  <a:srgbClr val="5CC8A1"/>
                </a:solidFill>
                <a:latin typeface="Montserrat"/>
              </a:rPr>
              <a:t>slido.com  ·  #CODE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Take-aways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SN II enrich fast with α-elements; SN Ia slowly with iron.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The knee in [Mg/Fe] marks when SN Ia catch up — a clock.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Fast-forming galaxies (ellipticals) keep α-rich stars.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The IMF sets the plateau: time and IMF are degenerate.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The IMF links light → mass (Lecture 1) and chemistry → time (Lecture 2).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E8FD5"/>
                </a:solidFill>
                <a:latin typeface="Montserrat"/>
              </a:rPr>
              <a:t>Homework &amp; 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Notebooks 03 (toy model) and 04 (galevo)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github.com/Azeret/stellar-populations-lectures   [QR code]</a:t>
            </a:r>
          </a:p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F4F4F6"/>
                </a:solidFill>
                <a:latin typeface="Montserrat"/>
              </a:rPr>
              <a:t>Slido S2.11: one thing you will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40"/>
              </a:spcAft>
            </a:pPr>
            <a:r>
              <a:rPr sz="1200" b="0" i="0">
                <a:solidFill>
                  <a:srgbClr val="9A9AB5"/>
                </a:solidFill>
                <a:latin typeface="Montserrat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