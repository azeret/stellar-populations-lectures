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0:00. Welcome. Put the Slido code on the board now; everybody joins before slide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0:02. Show your Andromeda image (ISTA p.32) behind this if you like. Collect ideas: rotation curve, light × M/L, lensing, satellites. Keep the list: we come back to it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0:06. Expected: colours, magnitudes, spectra, line widths, sizes. Punchline: only light. 2 minutes pair talk first, then the word cloud.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0:12. The roadmap. Lecture 1 builds the M/L box; Lecture 2 opens the chemistry box. The IMF hides inside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0:15–0:28. Bike ride with a camera: distance, breed (= type), age, multiplicity, cats (contaminants). Then the dog IMF and the city/village dog IMFs. Keep the house-dog joke.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0:28. No single right answer; map each to a stellar correction: Malmquist/completeness, spectral type, age/evolution, unresolved binaries, contaminants.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0:30–0:40. The PDLF → IMF chain: mass–luminosity relation, scale height vs age, MS brightening, evolved stars, metallicity, unresolved binaries, extinction. Scalo (1998) quote.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0:40. They agree above ~1 Msun and differ where stars are faint. Mention that 'canonical' means 'what we measured in the Solar neighbourhood', not 'proven universal'.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0:43. Answer 2.35. Trap: 1.35 is the same IMF written per log m (dN/dlog m ∝ m^−1.35).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0:45–0:58. Random numbers: phone (e.g. 'random number 0 999'), or three d10. Expect ~18 Msun per pair and roughly one pair in five with a star &gt; 8 Msun.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0:52. Read some out. Then add up the room as one cluster. Discussion: bigger clusters host bigger stars — random sampling or a physical m_max–M_cl relation? (open debate).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0:55. Pause at ~300 stars (first massive stars appear) and at the end (617 stars &gt; 8 Msun out of 100 000).</a:t>
            </a:r>
          </a:p>
          <a:p/>
          <a:p>
            <a:r>
              <a:t>Caption: From 10 to 100 000 stars: the histogram converges to the IMF; massive stars stay rare.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0:58. Answer C: 90% of stars are &lt; 1 Msun; 23% of the mass formed is in stars &gt; 8 Msun (Kroupa).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1:00. The key slide of part 1. Low-mass stars: number. Intermediate: mass. Massive: light (when young). So the light tells you about a few stars, and you extrapolate to all the mass with the IMF.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1:05–1:15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1:15. One age, one metallicity. Real galaxies = sums of SSPs (star-formation history).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1:20. Everything in the next animations is computed with FaSTAR in notebook 02; students can redo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1:23. Answer ~35× (FaSTAR, Kroupa, solar). Then play A2.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1:25. Watch the Balmer lines grow (A stars, ~0.3–1 Gyr) and fade. Blue light disappears as massive stars die.</a:t>
            </a:r>
          </a:p>
          <a:p/>
          <a:p>
            <a:r>
              <a:t>Caption: FaSTAR, Kroupa IMF, solar metallicity. M/L_V (stars + remnants) grows ~70× from 30 Myr to 13 Gyr.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1:32. Answer D — the age–metallicity(–dust) degeneracy. Then A3.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1:34. Point at Mg b and Fe lines: index ratios break the degeneracy (Lick indices).</a:t>
            </a:r>
          </a:p>
          <a:p/>
          <a:p>
            <a:r>
              <a:t>Caption: FaSTAR, 10 Gyr. Metal lines deepen and the continuum reddens — like getting older (Worthey's 3/2 rule).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1:42. Answer C. Then A4.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1:44. The spectrum changes by a few per cent (Na D, TiO: dwarf-sensitive), M/L by a factor ~4. This is why IMF measurements in galaxies are hard and controversial.</a:t>
            </a:r>
          </a:p>
          <a:p/>
          <a:p>
            <a:r>
              <a:t>Caption: Single power law 0.1–100 M☉, 10 Gyr, solar. Top-heavy: mass in remnants. Bottom-heavy: mass in faint dwarfs.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1:52. Answer no. Then A5.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1:54. Relevant for star clusters, dwarf galaxies and for ELT-resolution data (semi-resolved regime).</a:t>
            </a:r>
          </a:p>
          <a:p/>
          <a:p>
            <a:r>
              <a:t>Caption: FaSTAR semi-resolved models, 100 Myr: a handful of massive or evolved stars decides the light.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2:03. Hα counts ionising photons = massive stars only. To get an SFR you extrapolate with the IMF.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2:10. Answer: too high — more ionising photons per Msun formed than Kroupa assumes.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2:17. Put the QR code here in Canva.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microsoft.com/office/2007/relationships/media" Target="../media/media2.mp4"/><Relationship Id="rId4" Type="http://schemas.openxmlformats.org/officeDocument/2006/relationships/video" Target="../media/media2.mp4"/><Relationship Id="rId5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microsoft.com/office/2007/relationships/media" Target="../media/media3.mp4"/><Relationship Id="rId4" Type="http://schemas.openxmlformats.org/officeDocument/2006/relationships/video" Target="../media/media3.mp4"/><Relationship Id="rId5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microsoft.com/office/2007/relationships/media" Target="../media/media4.mp4"/><Relationship Id="rId4" Type="http://schemas.openxmlformats.org/officeDocument/2006/relationships/video" Target="../media/media4.mp4"/><Relationship Id="rId5" Type="http://schemas.openxmlformats.org/officeDocument/2006/relationships/image" Target="../media/image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microsoft.com/office/2007/relationships/media" Target="../media/media5.mp4"/><Relationship Id="rId4" Type="http://schemas.openxmlformats.org/officeDocument/2006/relationships/video" Target="../media/media5.mp4"/><Relationship Id="rId5" Type="http://schemas.openxmlformats.org/officeDocument/2006/relationships/image" Target="../media/image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160"/>
              </a:spcAft>
            </a:pPr>
            <a:r>
              <a:rPr sz="4800" b="1" i="0">
                <a:solidFill>
                  <a:srgbClr val="1E8FD5"/>
                </a:solidFill>
                <a:latin typeface="Montserrat"/>
              </a:rPr>
              <a:t>Stellar populations &amp; the stellar IMF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38328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80"/>
              </a:spcAft>
            </a:pPr>
            <a:r>
              <a:rPr sz="2400" b="0" i="0">
                <a:solidFill>
                  <a:srgbClr val="F4F4F6"/>
                </a:solidFill>
                <a:latin typeface="Montserrat"/>
              </a:rPr>
              <a:t>Lecture 1 — How do you weigh a galaxy you cannot resolve?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12064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10"/>
              </a:spcAft>
            </a:pPr>
            <a:r>
              <a:rPr sz="1800" b="0" i="0">
                <a:solidFill>
                  <a:srgbClr val="9A9AB5"/>
                </a:solidFill>
                <a:latin typeface="Montserrat"/>
              </a:rPr>
              <a:t>Dr. Tereza Jeřábková</a:t>
            </a:r>
          </a:p>
          <a:p>
            <a:pPr algn="l">
              <a:spcAft>
                <a:spcPts val="810"/>
              </a:spcAft>
            </a:pPr>
            <a:r>
              <a:rPr sz="1800" b="0" i="0">
                <a:solidFill>
                  <a:srgbClr val="9A9AB5"/>
                </a:solidFill>
                <a:latin typeface="Montserrat"/>
              </a:rPr>
              <a:t>Galaxies course · Masaryk University · ÚTFA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3840480" cy="548640"/>
          </a:xfrm>
          <a:prstGeom prst="roundRect">
            <a:avLst/>
          </a:prstGeom>
          <a:solidFill>
            <a:srgbClr val="5CC8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>
                <a:solidFill>
                  <a:srgbClr val="1B1A2E"/>
                </a:solidFill>
                <a:latin typeface="Montserrat"/>
              </a:rPr>
              <a:t>Slido S1.1 · open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4000" b="1" i="0">
                <a:solidFill>
                  <a:srgbClr val="F4F4F6"/>
                </a:solidFill>
                <a:latin typeface="Montserrat"/>
              </a:rPr>
              <a:t>Andromeda: how much does it weigh, and how would you find out?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10"/>
              </a:spcAft>
            </a:pPr>
            <a:r>
              <a:rPr sz="1800" b="1" i="0">
                <a:solidFill>
                  <a:srgbClr val="5CC8A1"/>
                </a:solidFill>
                <a:latin typeface="Montserrat"/>
              </a:rPr>
              <a:t>slido.com  ·  #CODE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3840480" cy="548640"/>
          </a:xfrm>
          <a:prstGeom prst="roundRect">
            <a:avLst/>
          </a:prstGeom>
          <a:solidFill>
            <a:srgbClr val="5CC8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>
                <a:solidFill>
                  <a:srgbClr val="1B1A2E"/>
                </a:solidFill>
                <a:latin typeface="Montserrat"/>
              </a:rPr>
              <a:t>Slido S1.2 · word cloud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4000" b="1" i="0">
                <a:solidFill>
                  <a:srgbClr val="F4F4F6"/>
                </a:solidFill>
                <a:latin typeface="Montserrat"/>
              </a:rPr>
              <a:t>What can we actually measure from a galaxy we cannot resolve?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10"/>
              </a:spcAft>
            </a:pPr>
            <a:r>
              <a:rPr sz="1800" b="1" i="0">
                <a:solidFill>
                  <a:srgbClr val="5CC8A1"/>
                </a:solidFill>
                <a:latin typeface="Montserrat"/>
              </a:rPr>
              <a:t>slido.com  ·  #CODE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530"/>
              </a:spcAft>
            </a:pPr>
            <a:r>
              <a:rPr sz="3400" b="1" i="0">
                <a:solidFill>
                  <a:srgbClr val="1E8FD5"/>
                </a:solidFill>
                <a:latin typeface="Montserrat"/>
              </a:rPr>
              <a:t>Today's story: from light to mass</a:t>
            </a:r>
          </a:p>
        </p:txBody>
      </p:sp>
      <p:pic>
        <p:nvPicPr>
          <p:cNvPr id="3" name="Picture 2" descr="s6_light_to_m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234440"/>
            <a:ext cx="9601200" cy="54006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636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20"/>
              </a:spcAft>
            </a:pPr>
            <a:r>
              <a:rPr sz="1600" b="0" i="0">
                <a:solidFill>
                  <a:srgbClr val="9A9AB5"/>
                </a:solidFill>
                <a:latin typeface="Montserrat"/>
              </a:rPr>
              <a:t>Everything we say about a galaxy's mass, age or SFR goes through a model — and every model has an IMF.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540"/>
              </a:spcAft>
            </a:pPr>
            <a:r>
              <a:rPr sz="1200" b="0" i="0">
                <a:solidFill>
                  <a:srgbClr val="9A9AB5"/>
                </a:solidFill>
                <a:latin typeface="Montserra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828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320"/>
              </a:spcAft>
            </a:pPr>
            <a:r>
              <a:rPr sz="9600" b="1" i="0">
                <a:solidFill>
                  <a:srgbClr val="1E8FD5"/>
                </a:solidFill>
                <a:latin typeface="Montserrat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2286000"/>
            <a:ext cx="9509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4000" b="1" i="0">
                <a:solidFill>
                  <a:srgbClr val="F4F4F6"/>
                </a:solidFill>
                <a:latin typeface="Montserrat"/>
              </a:rPr>
              <a:t>The IMF: counting stars like dogs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3291840"/>
            <a:ext cx="9509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80"/>
              </a:spcAft>
            </a:pPr>
            <a:r>
              <a:rPr sz="2400" b="0" i="1">
                <a:solidFill>
                  <a:srgbClr val="9A9AB5"/>
                </a:solidFill>
                <a:latin typeface="Montserrat"/>
              </a:rPr>
              <a:t>What does it mean that “the IMF has a slope of 2.35”?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2011680"/>
            <a:ext cx="9418320" cy="2834640"/>
          </a:xfrm>
          <a:prstGeom prst="roundRect">
            <a:avLst/>
          </a:prstGeom>
          <a:noFill/>
          <a:ln w="38100">
            <a:solidFill>
              <a:srgbClr val="F5A62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737360" y="2286000"/>
            <a:ext cx="86868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260"/>
              </a:spcAft>
            </a:pPr>
            <a:r>
              <a:rPr sz="2800" b="1" i="0">
                <a:solidFill>
                  <a:srgbClr val="F5A623"/>
                </a:solidFill>
                <a:latin typeface="Montserrat"/>
              </a:rPr>
              <a:t>→ insert your slides here</a:t>
            </a:r>
          </a:p>
          <a:p>
            <a:pPr algn="ctr">
              <a:spcAft>
                <a:spcPts val="1260"/>
              </a:spcAft>
            </a:pPr>
            <a:r>
              <a:rPr sz="2800" b="1" i="0">
                <a:solidFill>
                  <a:srgbClr val="F5A623"/>
                </a:solidFill>
                <a:latin typeface="Montserrat"/>
              </a:rPr>
              <a:t>the dog analogy: ‘Let's study dogs like we study stars’ → dog IMFs in different environments</a:t>
            </a:r>
          </a:p>
          <a:p>
            <a:pPr algn="ctr">
              <a:spcAft>
                <a:spcPts val="1260"/>
              </a:spcAft>
            </a:pPr>
            <a:r>
              <a:rPr sz="2800" b="1" i="0">
                <a:solidFill>
                  <a:srgbClr val="F5A623"/>
                </a:solidFill>
                <a:latin typeface="Montserrat"/>
              </a:rPr>
              <a:t>from: Canva ‘ISTA seminar’, slides 21–30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3840480" cy="548640"/>
          </a:xfrm>
          <a:prstGeom prst="roundRect">
            <a:avLst/>
          </a:prstGeom>
          <a:solidFill>
            <a:srgbClr val="5CC8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>
                <a:solidFill>
                  <a:srgbClr val="1B1A2E"/>
                </a:solidFill>
                <a:latin typeface="Montserrat"/>
              </a:rPr>
              <a:t>Slido S1.3 · multiple 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4000" b="1" i="0">
                <a:solidFill>
                  <a:srgbClr val="F4F4F6"/>
                </a:solidFill>
                <a:latin typeface="Montserrat"/>
              </a:rPr>
              <a:t>Counting dogs from a bike: which bias distorts the dog IMF most?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6070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170"/>
              </a:spcAft>
            </a:pPr>
            <a:r>
              <a:rPr sz="2600" b="0" i="0">
                <a:solidFill>
                  <a:srgbClr val="F4F4F6"/>
                </a:solidFill>
                <a:latin typeface="Montserrat"/>
              </a:rPr>
              <a:t>A   far-away dogs are missed</a:t>
            </a:r>
          </a:p>
          <a:p>
            <a:pPr algn="l">
              <a:spcAft>
                <a:spcPts val="1170"/>
              </a:spcAft>
            </a:pPr>
            <a:r>
              <a:rPr sz="2600" b="0" i="0">
                <a:solidFill>
                  <a:srgbClr val="F4F4F6"/>
                </a:solidFill>
                <a:latin typeface="Montserrat"/>
              </a:rPr>
              <a:t>B   breeds look alike</a:t>
            </a:r>
          </a:p>
          <a:p>
            <a:pPr algn="l">
              <a:spcAft>
                <a:spcPts val="1170"/>
              </a:spcAft>
            </a:pPr>
            <a:r>
              <a:rPr sz="2600" b="0" i="0">
                <a:solidFill>
                  <a:srgbClr val="F4F4F6"/>
                </a:solidFill>
                <a:latin typeface="Montserrat"/>
              </a:rPr>
              <a:t>C   puppies vs adults</a:t>
            </a:r>
          </a:p>
          <a:p>
            <a:pPr algn="l">
              <a:spcAft>
                <a:spcPts val="1170"/>
              </a:spcAft>
            </a:pPr>
            <a:r>
              <a:rPr sz="2600" b="0" i="0">
                <a:solidFill>
                  <a:srgbClr val="F4F4F6"/>
                </a:solidFill>
                <a:latin typeface="Montserrat"/>
              </a:rPr>
              <a:t>D   dogs walk in pairs</a:t>
            </a:r>
          </a:p>
          <a:p>
            <a:pPr algn="l">
              <a:spcAft>
                <a:spcPts val="1170"/>
              </a:spcAft>
            </a:pPr>
            <a:r>
              <a:rPr sz="2600" b="0" i="0">
                <a:solidFill>
                  <a:srgbClr val="F4F4F6"/>
                </a:solidFill>
                <a:latin typeface="Montserrat"/>
              </a:rPr>
              <a:t>E   cats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10"/>
              </a:spcAft>
            </a:pPr>
            <a:r>
              <a:rPr sz="1800" b="1" i="0">
                <a:solidFill>
                  <a:srgbClr val="5CC8A1"/>
                </a:solidFill>
                <a:latin typeface="Montserrat"/>
              </a:rPr>
              <a:t>slido.com  ·  #CODE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2011680"/>
            <a:ext cx="9418320" cy="2834640"/>
          </a:xfrm>
          <a:prstGeom prst="roundRect">
            <a:avLst/>
          </a:prstGeom>
          <a:noFill/>
          <a:ln w="38100">
            <a:solidFill>
              <a:srgbClr val="F5A62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737360" y="2286000"/>
            <a:ext cx="86868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260"/>
              </a:spcAft>
            </a:pPr>
            <a:r>
              <a:rPr sz="2800" b="1" i="0">
                <a:solidFill>
                  <a:srgbClr val="F5A623"/>
                </a:solidFill>
                <a:latin typeface="Montserrat"/>
              </a:rPr>
              <a:t>→ insert your slides here</a:t>
            </a:r>
          </a:p>
          <a:p>
            <a:pPr algn="ctr">
              <a:spcAft>
                <a:spcPts val="1260"/>
              </a:spcAft>
            </a:pPr>
            <a:r>
              <a:rPr sz="2800" b="1" i="0">
                <a:solidFill>
                  <a:srgbClr val="F5A623"/>
                </a:solidFill>
                <a:latin typeface="Montserrat"/>
              </a:rPr>
              <a:t>Salpeter 1955 and the corrections from luminosity function to IMF; ‘the IMF is a Hilfskonstrukt’</a:t>
            </a:r>
          </a:p>
          <a:p>
            <a:pPr algn="ctr">
              <a:spcAft>
                <a:spcPts val="1260"/>
              </a:spcAft>
            </a:pPr>
            <a:r>
              <a:rPr sz="2800" b="1" i="0">
                <a:solidFill>
                  <a:srgbClr val="F5A623"/>
                </a:solidFill>
                <a:latin typeface="Montserrat"/>
              </a:rPr>
              <a:t>from: Canva ‘ISTA seminar’, slides 20 and 31–39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530"/>
              </a:spcAft>
            </a:pPr>
            <a:r>
              <a:rPr sz="3400" b="1" i="0">
                <a:solidFill>
                  <a:srgbClr val="1E8FD5"/>
                </a:solidFill>
                <a:latin typeface="Montserrat"/>
              </a:rPr>
              <a:t>Three IMFs you will meet in papers</a:t>
            </a:r>
          </a:p>
        </p:txBody>
      </p:sp>
      <p:pic>
        <p:nvPicPr>
          <p:cNvPr id="3" name="Picture 2" descr="s7_imf_shap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234440"/>
            <a:ext cx="9601200" cy="54006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636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20"/>
              </a:spcAft>
            </a:pPr>
            <a:r>
              <a:rPr sz="1600" b="0" i="0">
                <a:solidFill>
                  <a:srgbClr val="9A9AB5"/>
                </a:solidFill>
                <a:latin typeface="Montserrat"/>
              </a:rPr>
              <a:t>ξ(m) = dN/dm ∝ m^−α.  Salpeter: α = 2.35.  Kroupa: 1.3 below 0.5 M☉, 2.3 above.  Chabrier: log-normal + power law.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540"/>
              </a:spcAft>
            </a:pPr>
            <a:r>
              <a:rPr sz="1200" b="0" i="0">
                <a:solidFill>
                  <a:srgbClr val="9A9AB5"/>
                </a:solidFill>
                <a:latin typeface="Montserrat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3840480" cy="548640"/>
          </a:xfrm>
          <a:prstGeom prst="roundRect">
            <a:avLst/>
          </a:prstGeom>
          <a:solidFill>
            <a:srgbClr val="5CC8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>
                <a:solidFill>
                  <a:srgbClr val="1B1A2E"/>
                </a:solidFill>
                <a:latin typeface="Montserrat"/>
              </a:rPr>
              <a:t>Slido S1.4 ·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4000" b="1" i="0">
                <a:solidFill>
                  <a:srgbClr val="F4F4F6"/>
                </a:solidFill>
                <a:latin typeface="Montserrat"/>
              </a:rPr>
              <a:t>Salpeter's slope α in dN/dm ∝ m^−α is 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6070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170"/>
              </a:spcAft>
            </a:pPr>
            <a:r>
              <a:rPr sz="2600" b="0" i="0">
                <a:solidFill>
                  <a:srgbClr val="F4F4F6"/>
                </a:solidFill>
                <a:latin typeface="Montserrat"/>
              </a:rPr>
              <a:t>A   1.35</a:t>
            </a:r>
          </a:p>
          <a:p>
            <a:pPr algn="l">
              <a:spcAft>
                <a:spcPts val="1170"/>
              </a:spcAft>
            </a:pPr>
            <a:r>
              <a:rPr sz="2600" b="0" i="0">
                <a:solidFill>
                  <a:srgbClr val="F4F4F6"/>
                </a:solidFill>
                <a:latin typeface="Montserrat"/>
              </a:rPr>
              <a:t>B   2.35</a:t>
            </a:r>
          </a:p>
          <a:p>
            <a:pPr algn="l">
              <a:spcAft>
                <a:spcPts val="1170"/>
              </a:spcAft>
            </a:pPr>
            <a:r>
              <a:rPr sz="2600" b="0" i="0">
                <a:solidFill>
                  <a:srgbClr val="F4F4F6"/>
                </a:solidFill>
                <a:latin typeface="Montserrat"/>
              </a:rPr>
              <a:t>C   3.5</a:t>
            </a:r>
          </a:p>
          <a:p>
            <a:pPr algn="l">
              <a:spcAft>
                <a:spcPts val="1170"/>
              </a:spcAft>
            </a:pPr>
            <a:r>
              <a:rPr sz="2600" b="0" i="0">
                <a:solidFill>
                  <a:srgbClr val="F4F4F6"/>
                </a:solidFill>
                <a:latin typeface="Montserrat"/>
              </a:rPr>
              <a:t>D   0.5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10"/>
              </a:spcAft>
            </a:pPr>
            <a:r>
              <a:rPr sz="1800" b="1" i="0">
                <a:solidFill>
                  <a:srgbClr val="5CC8A1"/>
                </a:solidFill>
                <a:latin typeface="Montserrat"/>
              </a:rPr>
              <a:t>slido.com  ·  #CODE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530"/>
              </a:spcAft>
            </a:pPr>
            <a:r>
              <a:rPr sz="3400" b="1" i="0">
                <a:solidFill>
                  <a:srgbClr val="1E8FD5"/>
                </a:solidFill>
                <a:latin typeface="Montserrat"/>
              </a:rPr>
              <a:t>Game 1 — build a star cluster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24712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80"/>
              </a:spcAft>
            </a:pPr>
            <a:r>
              <a:rPr sz="2400" b="0" i="0">
                <a:solidFill>
                  <a:srgbClr val="F4F4F6"/>
                </a:solidFill>
                <a:latin typeface="Montserrat"/>
              </a:rPr>
              <a:t>In pairs, draw 30 stars: a random number 000–999 → look up the mass.</a:t>
            </a:r>
          </a:p>
          <a:p>
            <a:pPr algn="l">
              <a:spcAft>
                <a:spcPts val="1080"/>
              </a:spcAft>
            </a:pPr>
            <a:r>
              <a:rPr sz="2400" b="0" i="0">
                <a:solidFill>
                  <a:srgbClr val="F4F4F6"/>
                </a:solidFill>
                <a:latin typeface="Montserrat"/>
              </a:rPr>
              <a:t>000–431  0.13 M☉   ·   432–759  0.32   ·   760–901  0.68</a:t>
            </a:r>
          </a:p>
          <a:p>
            <a:pPr algn="l">
              <a:spcAft>
                <a:spcPts val="1080"/>
              </a:spcAft>
            </a:pPr>
            <a:r>
              <a:rPr sz="2400" b="0" i="0">
                <a:solidFill>
                  <a:srgbClr val="F4F4F6"/>
                </a:solidFill>
                <a:latin typeface="Montserrat"/>
              </a:rPr>
              <a:t>902–959  1.4   ·   960–992  3.5   ·   993–997  12   ·   998–999  42</a:t>
            </a:r>
          </a:p>
          <a:p>
            <a:pPr algn="l">
              <a:spcAft>
                <a:spcPts val="1080"/>
              </a:spcAft>
            </a:pPr>
            <a:r>
              <a:rPr sz="2400" b="0" i="0">
                <a:solidFill>
                  <a:srgbClr val="F4F4F6"/>
                </a:solidFill>
                <a:latin typeface="Montserrat"/>
              </a:rPr>
              <a:t>Add up your cluster mass. Note your most massive star.</a:t>
            </a:r>
          </a:p>
          <a:p>
            <a:pPr algn="l">
              <a:spcAft>
                <a:spcPts val="1080"/>
              </a:spcAft>
            </a:pPr>
            <a:r>
              <a:rPr sz="2400" b="0" i="0">
                <a:solidFill>
                  <a:srgbClr val="F4F4F6"/>
                </a:solidFill>
                <a:latin typeface="Montserrat"/>
              </a:rPr>
              <a:t>Send both to Slido. Did anybody get a supernova progenitor (&gt; 8 M☉)?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540"/>
              </a:spcAft>
            </a:pPr>
            <a:r>
              <a:rPr sz="1200" b="0" i="0">
                <a:solidFill>
                  <a:srgbClr val="9A9AB5"/>
                </a:solidFill>
                <a:latin typeface="Montserrat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3840480" cy="548640"/>
          </a:xfrm>
          <a:prstGeom prst="roundRect">
            <a:avLst/>
          </a:prstGeom>
          <a:solidFill>
            <a:srgbClr val="5CC8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>
                <a:solidFill>
                  <a:srgbClr val="1B1A2E"/>
                </a:solidFill>
                <a:latin typeface="Montserrat"/>
              </a:rPr>
              <a:t>Slido S1.5 · open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4000" b="1" i="0">
                <a:solidFill>
                  <a:srgbClr val="F4F4F6"/>
                </a:solidFill>
                <a:latin typeface="Montserrat"/>
              </a:rPr>
              <a:t>Your cluster: total mass and most massive star  (e.g. “19 M☉, 3.5 M☉”)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10"/>
              </a:spcAft>
            </a:pPr>
            <a:r>
              <a:rPr sz="1800" b="1" i="0">
                <a:solidFill>
                  <a:srgbClr val="5CC8A1"/>
                </a:solidFill>
                <a:latin typeface="Montserrat"/>
              </a:rPr>
              <a:t>slido.com  ·  #CODE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a1_imf_sampling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65760" y="182880"/>
            <a:ext cx="11457432" cy="6446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3840480" cy="548640"/>
          </a:xfrm>
          <a:prstGeom prst="roundRect">
            <a:avLst/>
          </a:prstGeom>
          <a:solidFill>
            <a:srgbClr val="5CC8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>
                <a:solidFill>
                  <a:srgbClr val="1B1A2E"/>
                </a:solidFill>
                <a:latin typeface="Montserrat"/>
              </a:rPr>
              <a:t>Slido S1.6 ·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4000" b="1" i="0">
                <a:solidFill>
                  <a:srgbClr val="F4F4F6"/>
                </a:solidFill>
                <a:latin typeface="Montserrat"/>
              </a:rPr>
              <a:t>What fraction of newborn stars are less massive than the Sun?  …and what fraction of the mass goes into stars above 8 M☉?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6070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170"/>
              </a:spcAft>
            </a:pPr>
            <a:r>
              <a:rPr sz="2600" b="0" i="0">
                <a:solidFill>
                  <a:srgbClr val="F4F4F6"/>
                </a:solidFill>
                <a:latin typeface="Montserrat"/>
              </a:rPr>
              <a:t>A   50%  /  2%</a:t>
            </a:r>
          </a:p>
          <a:p>
            <a:pPr algn="l">
              <a:spcAft>
                <a:spcPts val="1170"/>
              </a:spcAft>
            </a:pPr>
            <a:r>
              <a:rPr sz="2600" b="0" i="0">
                <a:solidFill>
                  <a:srgbClr val="F4F4F6"/>
                </a:solidFill>
                <a:latin typeface="Montserrat"/>
              </a:rPr>
              <a:t>B   75%  /  50%</a:t>
            </a:r>
          </a:p>
          <a:p>
            <a:pPr algn="l">
              <a:spcAft>
                <a:spcPts val="1170"/>
              </a:spcAft>
            </a:pPr>
            <a:r>
              <a:rPr sz="2600" b="0" i="0">
                <a:solidFill>
                  <a:srgbClr val="F4F4F6"/>
                </a:solidFill>
                <a:latin typeface="Montserrat"/>
              </a:rPr>
              <a:t>C   90%  /  ~20%</a:t>
            </a:r>
          </a:p>
          <a:p>
            <a:pPr algn="l">
              <a:spcAft>
                <a:spcPts val="1170"/>
              </a:spcAft>
            </a:pPr>
            <a:r>
              <a:rPr sz="2600" b="0" i="0">
                <a:solidFill>
                  <a:srgbClr val="F4F4F6"/>
                </a:solidFill>
                <a:latin typeface="Montserrat"/>
              </a:rPr>
              <a:t>D   99%  /  80%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10"/>
              </a:spcAft>
            </a:pPr>
            <a:r>
              <a:rPr sz="1800" b="1" i="0">
                <a:solidFill>
                  <a:srgbClr val="5CC8A1"/>
                </a:solidFill>
                <a:latin typeface="Montserrat"/>
              </a:rPr>
              <a:t>slido.com  ·  #CODE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530"/>
              </a:spcAft>
            </a:pPr>
            <a:r>
              <a:rPr sz="3400" b="1" i="0">
                <a:solidFill>
                  <a:srgbClr val="1E8FD5"/>
                </a:solidFill>
                <a:latin typeface="Montserrat"/>
              </a:rPr>
              <a:t>Number, mass and light live in different stars</a:t>
            </a:r>
          </a:p>
        </p:txBody>
      </p:sp>
      <p:pic>
        <p:nvPicPr>
          <p:cNvPr id="3" name="Picture 2" descr="s5_number_mass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234440"/>
            <a:ext cx="9601200" cy="54006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636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20"/>
              </a:spcAft>
            </a:pPr>
            <a:r>
              <a:rPr sz="1600" b="0" i="0">
                <a:solidFill>
                  <a:srgbClr val="9A9AB5"/>
                </a:solidFill>
                <a:latin typeface="Montserrat"/>
              </a:rPr>
              <a:t>Kroupa IMF at birth. Light: main-sequence L(m). After ~1 Gyr the light comes from red giants instead.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540"/>
              </a:spcAft>
            </a:pPr>
            <a:r>
              <a:rPr sz="1200" b="0" i="0">
                <a:solidFill>
                  <a:srgbClr val="9A9AB5"/>
                </a:solidFill>
                <a:latin typeface="Montserrat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32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 i="0">
                <a:solidFill>
                  <a:srgbClr val="F4F4F6"/>
                </a:solidFill>
                <a:latin typeface="Montserrat"/>
              </a:rPr>
              <a:t>10 minutes break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023360"/>
            <a:ext cx="10332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80"/>
              </a:spcAft>
            </a:pPr>
            <a:r>
              <a:rPr sz="2400" b="0" i="0">
                <a:solidFill>
                  <a:srgbClr val="9A9AB5"/>
                </a:solidFill>
                <a:latin typeface="Montserrat"/>
              </a:rPr>
              <a:t>Puzzle for the break: a galaxy's light is 99% from &lt;1% of its stars. How would you weigh it?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828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320"/>
              </a:spcAft>
            </a:pPr>
            <a:r>
              <a:rPr sz="9600" b="1" i="0">
                <a:solidFill>
                  <a:srgbClr val="1E8FD5"/>
                </a:solidFill>
                <a:latin typeface="Montserrat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2286000"/>
            <a:ext cx="9509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4000" b="1" i="0">
                <a:solidFill>
                  <a:srgbClr val="F4F4F6"/>
                </a:solidFill>
                <a:latin typeface="Montserrat"/>
              </a:rPr>
              <a:t>Building a population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3291840"/>
            <a:ext cx="9509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80"/>
              </a:spcAft>
            </a:pPr>
            <a:r>
              <a:rPr sz="2400" b="0" i="1">
                <a:solidFill>
                  <a:srgbClr val="9A9AB5"/>
                </a:solidFill>
                <a:latin typeface="Montserrat"/>
              </a:rPr>
              <a:t>How does a population of stars look from far away?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530"/>
              </a:spcAft>
            </a:pPr>
            <a:r>
              <a:rPr sz="3400" b="1" i="0">
                <a:solidFill>
                  <a:srgbClr val="1E8FD5"/>
                </a:solidFill>
                <a:latin typeface="Montserrat"/>
              </a:rPr>
              <a:t>The recipe of a simple stellar population (SSP)</a:t>
            </a:r>
          </a:p>
        </p:txBody>
      </p:sp>
      <p:pic>
        <p:nvPicPr>
          <p:cNvPr id="3" name="Picture 2" descr="s1_ssp_reci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234440"/>
            <a:ext cx="9601200" cy="54006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636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20"/>
              </a:spcAft>
            </a:pPr>
            <a:r>
              <a:rPr sz="1600" b="0" i="0">
                <a:solidFill>
                  <a:srgbClr val="9A9AB5"/>
                </a:solidFill>
                <a:latin typeface="Montserrat"/>
              </a:rPr>
              <a:t>Fλ(t, Z) = ∫ ξ(m) fλ(m, t, Z) dm  over the stars still alive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540"/>
              </a:spcAft>
            </a:pPr>
            <a:r>
              <a:rPr sz="1200" b="0" i="0">
                <a:solidFill>
                  <a:srgbClr val="9A9AB5"/>
                </a:solidFill>
                <a:latin typeface="Montserrat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530"/>
              </a:spcAft>
            </a:pPr>
            <a:r>
              <a:rPr sz="3400" b="1" i="0">
                <a:solidFill>
                  <a:srgbClr val="1E8FD5"/>
                </a:solidFill>
                <a:latin typeface="Montserrat"/>
              </a:rPr>
              <a:t>FaSTAR: SSPs at any age, metallicity and IMF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24712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80"/>
              </a:spcAft>
            </a:pPr>
            <a:r>
              <a:rPr sz="2400" b="0" i="0">
                <a:solidFill>
                  <a:srgbClr val="F4F4F6"/>
                </a:solidFill>
                <a:latin typeface="Montserrat"/>
              </a:rPr>
              <a:t>Martín-Navarro et al. 2026, A&amp;A 711, A282 &amp; A283</a:t>
            </a:r>
          </a:p>
          <a:p>
            <a:pPr algn="l">
              <a:spcAft>
                <a:spcPts val="1080"/>
              </a:spcAft>
            </a:pPr>
            <a:r>
              <a:rPr sz="2400" b="0" i="0">
                <a:solidFill>
                  <a:srgbClr val="F4F4F6"/>
                </a:solidFill>
                <a:latin typeface="Montserrat"/>
              </a:rPr>
              <a:t>Neural-network stellar spectra + isochrones + any IMF you like</a:t>
            </a:r>
          </a:p>
          <a:p>
            <a:pPr algn="l">
              <a:spcAft>
                <a:spcPts val="1080"/>
              </a:spcAft>
            </a:pPr>
            <a:r>
              <a:rPr sz="2400" b="0" i="0">
                <a:solidFill>
                  <a:srgbClr val="F4F4F6"/>
                </a:solidFill>
                <a:latin typeface="Montserrat"/>
              </a:rPr>
              <a:t>Fast and differentiable: ages 20 Myr–14 Gyr, [M/H] −2.5 to +0.3</a:t>
            </a:r>
          </a:p>
          <a:p>
            <a:pPr algn="l">
              <a:spcAft>
                <a:spcPts val="1080"/>
              </a:spcAft>
            </a:pPr>
            <a:r>
              <a:rPr sz="2400" b="0" i="0">
                <a:solidFill>
                  <a:srgbClr val="F4F4F6"/>
                </a:solidFill>
                <a:latin typeface="Montserrat"/>
              </a:rPr>
              <a:t>Integrated (infinitely many stars) and semi-resolved (N stars) modes</a:t>
            </a:r>
          </a:p>
          <a:p>
            <a:pPr algn="l">
              <a:spcAft>
                <a:spcPts val="1080"/>
              </a:spcAft>
            </a:pPr>
            <a:r>
              <a:rPr sz="2400" b="0" i="0">
                <a:solidFill>
                  <a:srgbClr val="F4F4F6"/>
                </a:solidFill>
                <a:latin typeface="Montserrat"/>
              </a:rPr>
              <a:t>pip install fastar-astro  →  notebook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540"/>
              </a:spcAft>
            </a:pPr>
            <a:r>
              <a:rPr sz="1200" b="0" i="0">
                <a:solidFill>
                  <a:srgbClr val="9A9AB5"/>
                </a:solidFill>
                <a:latin typeface="Montserrat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3840480" cy="548640"/>
          </a:xfrm>
          <a:prstGeom prst="roundRect">
            <a:avLst/>
          </a:prstGeom>
          <a:solidFill>
            <a:srgbClr val="5CC8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>
                <a:solidFill>
                  <a:srgbClr val="1B1A2E"/>
                </a:solidFill>
                <a:latin typeface="Montserrat"/>
              </a:rPr>
              <a:t>Slido S1.7 · multiple 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4000" b="1" i="0">
                <a:solidFill>
                  <a:srgbClr val="F4F4F6"/>
                </a:solidFill>
                <a:latin typeface="Montserrat"/>
              </a:rPr>
              <a:t>Same mass formed: how much fainter (V band) is a 10 Gyr population than a 100 Myr one?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6070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170"/>
              </a:spcAft>
            </a:pPr>
            <a:r>
              <a:rPr sz="2600" b="0" i="0">
                <a:solidFill>
                  <a:srgbClr val="F4F4F6"/>
                </a:solidFill>
                <a:latin typeface="Montserrat"/>
              </a:rPr>
              <a:t>A   3×</a:t>
            </a:r>
          </a:p>
          <a:p>
            <a:pPr algn="l">
              <a:spcAft>
                <a:spcPts val="1170"/>
              </a:spcAft>
            </a:pPr>
            <a:r>
              <a:rPr sz="2600" b="0" i="0">
                <a:solidFill>
                  <a:srgbClr val="F4F4F6"/>
                </a:solidFill>
                <a:latin typeface="Montserrat"/>
              </a:rPr>
              <a:t>B   10×</a:t>
            </a:r>
          </a:p>
          <a:p>
            <a:pPr algn="l">
              <a:spcAft>
                <a:spcPts val="1170"/>
              </a:spcAft>
            </a:pPr>
            <a:r>
              <a:rPr sz="2600" b="0" i="0">
                <a:solidFill>
                  <a:srgbClr val="F4F4F6"/>
                </a:solidFill>
                <a:latin typeface="Montserrat"/>
              </a:rPr>
              <a:t>C   ~35×</a:t>
            </a:r>
          </a:p>
          <a:p>
            <a:pPr algn="l">
              <a:spcAft>
                <a:spcPts val="1170"/>
              </a:spcAft>
            </a:pPr>
            <a:r>
              <a:rPr sz="2600" b="0" i="0">
                <a:solidFill>
                  <a:srgbClr val="F4F4F6"/>
                </a:solidFill>
                <a:latin typeface="Montserrat"/>
              </a:rPr>
              <a:t>D   1000×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10"/>
              </a:spcAft>
            </a:pPr>
            <a:r>
              <a:rPr sz="1800" b="1" i="0">
                <a:solidFill>
                  <a:srgbClr val="5CC8A1"/>
                </a:solidFill>
                <a:latin typeface="Montserrat"/>
              </a:rPr>
              <a:t>slido.com  ·  #CODE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a2_ssp_ageing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65760" y="182880"/>
            <a:ext cx="11457432" cy="6446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3840480" cy="548640"/>
          </a:xfrm>
          <a:prstGeom prst="roundRect">
            <a:avLst/>
          </a:prstGeom>
          <a:solidFill>
            <a:srgbClr val="5CC8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>
                <a:solidFill>
                  <a:srgbClr val="1B1A2E"/>
                </a:solidFill>
                <a:latin typeface="Montserrat"/>
              </a:rPr>
              <a:t>Slido S1.8 · multiple 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4000" b="1" i="0">
                <a:solidFill>
                  <a:srgbClr val="F4F4F6"/>
                </a:solidFill>
                <a:latin typeface="Montserrat"/>
              </a:rPr>
              <a:t>A galaxy's spectrum is redder than your model. The galaxy is 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6070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170"/>
              </a:spcAft>
            </a:pPr>
            <a:r>
              <a:rPr sz="2600" b="0" i="0">
                <a:solidFill>
                  <a:srgbClr val="F4F4F6"/>
                </a:solidFill>
                <a:latin typeface="Montserrat"/>
              </a:rPr>
              <a:t>A   older</a:t>
            </a:r>
          </a:p>
          <a:p>
            <a:pPr algn="l">
              <a:spcAft>
                <a:spcPts val="1170"/>
              </a:spcAft>
            </a:pPr>
            <a:r>
              <a:rPr sz="2600" b="0" i="0">
                <a:solidFill>
                  <a:srgbClr val="F4F4F6"/>
                </a:solidFill>
                <a:latin typeface="Montserrat"/>
              </a:rPr>
              <a:t>B   more metal-rich</a:t>
            </a:r>
          </a:p>
          <a:p>
            <a:pPr algn="l">
              <a:spcAft>
                <a:spcPts val="1170"/>
              </a:spcAft>
            </a:pPr>
            <a:r>
              <a:rPr sz="2600" b="0" i="0">
                <a:solidFill>
                  <a:srgbClr val="F4F4F6"/>
                </a:solidFill>
                <a:latin typeface="Montserrat"/>
              </a:rPr>
              <a:t>C   dustier</a:t>
            </a:r>
          </a:p>
          <a:p>
            <a:pPr algn="l">
              <a:spcAft>
                <a:spcPts val="1170"/>
              </a:spcAft>
            </a:pPr>
            <a:r>
              <a:rPr sz="2600" b="0" i="0">
                <a:solidFill>
                  <a:srgbClr val="F4F4F6"/>
                </a:solidFill>
                <a:latin typeface="Montserrat"/>
              </a:rPr>
              <a:t>D   can't tell from colour alone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10"/>
              </a:spcAft>
            </a:pPr>
            <a:r>
              <a:rPr sz="1800" b="1" i="0">
                <a:solidFill>
                  <a:srgbClr val="5CC8A1"/>
                </a:solidFill>
                <a:latin typeface="Montserrat"/>
              </a:rPr>
              <a:t>slido.com  ·  #CODE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a3_ssp_metallicity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65760" y="182880"/>
            <a:ext cx="11457432" cy="6446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3840480" cy="548640"/>
          </a:xfrm>
          <a:prstGeom prst="roundRect">
            <a:avLst/>
          </a:prstGeom>
          <a:solidFill>
            <a:srgbClr val="5CC8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>
                <a:solidFill>
                  <a:srgbClr val="1B1A2E"/>
                </a:solidFill>
                <a:latin typeface="Montserrat"/>
              </a:rPr>
              <a:t>Slido S1.9 · multiple 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4000" b="1" i="0">
                <a:solidFill>
                  <a:srgbClr val="F4F4F6"/>
                </a:solidFill>
                <a:latin typeface="Montserrat"/>
              </a:rPr>
              <a:t>At 10 Gyr, which IMF has a higher M/L than Salpeter?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6070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170"/>
              </a:spcAft>
            </a:pPr>
            <a:r>
              <a:rPr sz="2600" b="0" i="0">
                <a:solidFill>
                  <a:srgbClr val="F4F4F6"/>
                </a:solidFill>
                <a:latin typeface="Montserrat"/>
              </a:rPr>
              <a:t>A   top-heavy only (α = 1.3)</a:t>
            </a:r>
          </a:p>
          <a:p>
            <a:pPr algn="l">
              <a:spcAft>
                <a:spcPts val="1170"/>
              </a:spcAft>
            </a:pPr>
            <a:r>
              <a:rPr sz="2600" b="0" i="0">
                <a:solidFill>
                  <a:srgbClr val="F4F4F6"/>
                </a:solidFill>
                <a:latin typeface="Montserrat"/>
              </a:rPr>
              <a:t>B   bottom-heavy only (α = 3)</a:t>
            </a:r>
          </a:p>
          <a:p>
            <a:pPr algn="l">
              <a:spcAft>
                <a:spcPts val="1170"/>
              </a:spcAft>
            </a:pPr>
            <a:r>
              <a:rPr sz="2600" b="0" i="0">
                <a:solidFill>
                  <a:srgbClr val="F4F4F6"/>
                </a:solidFill>
                <a:latin typeface="Montserrat"/>
              </a:rPr>
              <a:t>C   both</a:t>
            </a:r>
          </a:p>
          <a:p>
            <a:pPr algn="l">
              <a:spcAft>
                <a:spcPts val="1170"/>
              </a:spcAft>
            </a:pPr>
            <a:r>
              <a:rPr sz="2600" b="0" i="0">
                <a:solidFill>
                  <a:srgbClr val="F4F4F6"/>
                </a:solidFill>
                <a:latin typeface="Montserrat"/>
              </a:rPr>
              <a:t>D   neither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10"/>
              </a:spcAft>
            </a:pPr>
            <a:r>
              <a:rPr sz="1800" b="1" i="0">
                <a:solidFill>
                  <a:srgbClr val="5CC8A1"/>
                </a:solidFill>
                <a:latin typeface="Montserrat"/>
              </a:rPr>
              <a:t>slido.com  ·  #CODE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a4_ssp_imf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65760" y="182880"/>
            <a:ext cx="11457432" cy="6446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3840480" cy="548640"/>
          </a:xfrm>
          <a:prstGeom prst="roundRect">
            <a:avLst/>
          </a:prstGeom>
          <a:solidFill>
            <a:srgbClr val="5CC8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>
                <a:solidFill>
                  <a:srgbClr val="1B1A2E"/>
                </a:solidFill>
                <a:latin typeface="Montserrat"/>
              </a:rPr>
              <a:t>Slido S1.10 · multiple 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4000" b="1" i="0">
                <a:solidFill>
                  <a:srgbClr val="F4F4F6"/>
                </a:solidFill>
                <a:latin typeface="Montserrat"/>
              </a:rPr>
              <a:t>Two clusters with 300 stars each, same age, metallicity and IMF. Same spectrum?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6070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170"/>
              </a:spcAft>
            </a:pPr>
            <a:r>
              <a:rPr sz="2600" b="0" i="0">
                <a:solidFill>
                  <a:srgbClr val="F4F4F6"/>
                </a:solidFill>
                <a:latin typeface="Montserrat"/>
              </a:rPr>
              <a:t>A   yes</a:t>
            </a:r>
          </a:p>
          <a:p>
            <a:pPr algn="l">
              <a:spcAft>
                <a:spcPts val="1170"/>
              </a:spcAft>
            </a:pPr>
            <a:r>
              <a:rPr sz="2600" b="0" i="0">
                <a:solidFill>
                  <a:srgbClr val="F4F4F6"/>
                </a:solidFill>
                <a:latin typeface="Montserrat"/>
              </a:rPr>
              <a:t>B   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10"/>
              </a:spcAft>
            </a:pPr>
            <a:r>
              <a:rPr sz="1800" b="1" i="0">
                <a:solidFill>
                  <a:srgbClr val="5CC8A1"/>
                </a:solidFill>
                <a:latin typeface="Montserrat"/>
              </a:rPr>
              <a:t>slido.com  ·  #CODE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a5_stochastic_0.1Gyr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65760" y="182880"/>
            <a:ext cx="11457432" cy="6446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828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320"/>
              </a:spcAft>
            </a:pPr>
            <a:r>
              <a:rPr sz="9600" b="1" i="0">
                <a:solidFill>
                  <a:srgbClr val="1E8FD5"/>
                </a:solidFill>
                <a:latin typeface="Montserrat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2286000"/>
            <a:ext cx="9509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4000" b="1" i="0">
                <a:solidFill>
                  <a:srgbClr val="F4F4F6"/>
                </a:solidFill>
                <a:latin typeface="Montserrat"/>
              </a:rPr>
              <a:t>So what?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3291840"/>
            <a:ext cx="9509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80"/>
              </a:spcAft>
            </a:pPr>
            <a:r>
              <a:rPr sz="2400" b="0" i="1">
                <a:solidFill>
                  <a:srgbClr val="9A9AB5"/>
                </a:solidFill>
                <a:latin typeface="Montserrat"/>
              </a:rPr>
              <a:t>Every stellar mass and SFR you read carries an IMF assumption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2011680"/>
            <a:ext cx="9418320" cy="2834640"/>
          </a:xfrm>
          <a:prstGeom prst="roundRect">
            <a:avLst/>
          </a:prstGeom>
          <a:noFill/>
          <a:ln w="38100">
            <a:solidFill>
              <a:srgbClr val="F5A62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737360" y="2286000"/>
            <a:ext cx="86868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260"/>
              </a:spcAft>
            </a:pPr>
            <a:r>
              <a:rPr sz="2800" b="1" i="0">
                <a:solidFill>
                  <a:srgbClr val="F5A623"/>
                </a:solidFill>
                <a:latin typeface="Montserrat"/>
              </a:rPr>
              <a:t>→ insert your slides here</a:t>
            </a:r>
          </a:p>
          <a:p>
            <a:pPr algn="ctr">
              <a:spcAft>
                <a:spcPts val="1260"/>
              </a:spcAft>
            </a:pPr>
            <a:r>
              <a:rPr sz="2800" b="1" i="0">
                <a:solidFill>
                  <a:srgbClr val="F5A623"/>
                </a:solidFill>
                <a:latin typeface="Montserrat"/>
              </a:rPr>
              <a:t>Hα SFR and stellar masses with a variable IMF (Haslbauer, Yan, Jeřábková 2024)</a:t>
            </a:r>
          </a:p>
          <a:p>
            <a:pPr algn="ctr">
              <a:spcAft>
                <a:spcPts val="1260"/>
              </a:spcAft>
            </a:pPr>
            <a:r>
              <a:rPr sz="2800" b="1" i="0">
                <a:solidFill>
                  <a:srgbClr val="F5A623"/>
                </a:solidFill>
                <a:latin typeface="Montserrat"/>
              </a:rPr>
              <a:t>from: Canva ‘ISTA seminar’, slides 47–48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3840480" cy="548640"/>
          </a:xfrm>
          <a:prstGeom prst="roundRect">
            <a:avLst/>
          </a:prstGeom>
          <a:solidFill>
            <a:srgbClr val="5CC8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>
                <a:solidFill>
                  <a:srgbClr val="1B1A2E"/>
                </a:solidFill>
                <a:latin typeface="Montserrat"/>
              </a:rPr>
              <a:t>Slido S1.11 ·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4000" b="1" i="0">
                <a:solidFill>
                  <a:srgbClr val="F4F4F6"/>
                </a:solidFill>
                <a:latin typeface="Montserrat"/>
              </a:rPr>
              <a:t>If the true IMF is top-heavy, an Hα SFR computed assuming Kroupa is 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6070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170"/>
              </a:spcAft>
            </a:pPr>
            <a:r>
              <a:rPr sz="2600" b="0" i="0">
                <a:solidFill>
                  <a:srgbClr val="F4F4F6"/>
                </a:solidFill>
                <a:latin typeface="Montserrat"/>
              </a:rPr>
              <a:t>A   too high</a:t>
            </a:r>
          </a:p>
          <a:p>
            <a:pPr algn="l">
              <a:spcAft>
                <a:spcPts val="1170"/>
              </a:spcAft>
            </a:pPr>
            <a:r>
              <a:rPr sz="2600" b="0" i="0">
                <a:solidFill>
                  <a:srgbClr val="F4F4F6"/>
                </a:solidFill>
                <a:latin typeface="Montserrat"/>
              </a:rPr>
              <a:t>B   too low</a:t>
            </a:r>
          </a:p>
          <a:p>
            <a:pPr algn="l">
              <a:spcAft>
                <a:spcPts val="1170"/>
              </a:spcAft>
            </a:pPr>
            <a:r>
              <a:rPr sz="2600" b="0" i="0">
                <a:solidFill>
                  <a:srgbClr val="F4F4F6"/>
                </a:solidFill>
                <a:latin typeface="Montserrat"/>
              </a:rPr>
              <a:t>C   unchanged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10"/>
              </a:spcAft>
            </a:pPr>
            <a:r>
              <a:rPr sz="1800" b="1" i="0">
                <a:solidFill>
                  <a:srgbClr val="5CC8A1"/>
                </a:solidFill>
                <a:latin typeface="Montserrat"/>
              </a:rPr>
              <a:t>slido.com  ·  #CODE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530"/>
              </a:spcAft>
            </a:pPr>
            <a:r>
              <a:rPr sz="3400" b="1" i="0">
                <a:solidFill>
                  <a:srgbClr val="1E8FD5"/>
                </a:solidFill>
                <a:latin typeface="Montserrat"/>
              </a:rPr>
              <a:t>Take-aways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24712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80"/>
              </a:spcAft>
            </a:pPr>
            <a:r>
              <a:rPr sz="2400" b="0" i="0">
                <a:solidFill>
                  <a:srgbClr val="F4F4F6"/>
                </a:solidFill>
                <a:latin typeface="Montserrat"/>
              </a:rPr>
              <a:t>The IMF is inferred, not observed — a useful Hilfskonstrukt.</a:t>
            </a:r>
          </a:p>
          <a:p>
            <a:pPr algn="l">
              <a:spcAft>
                <a:spcPts val="1080"/>
              </a:spcAft>
            </a:pPr>
            <a:r>
              <a:rPr sz="2400" b="0" i="0">
                <a:solidFill>
                  <a:srgbClr val="F4F4F6"/>
                </a:solidFill>
                <a:latin typeface="Montserrat"/>
              </a:rPr>
              <a:t>Most stars are small; the light comes from a few massive or evolved ones.</a:t>
            </a:r>
          </a:p>
          <a:p>
            <a:pPr algn="l">
              <a:spcAft>
                <a:spcPts val="1080"/>
              </a:spcAft>
            </a:pPr>
            <a:r>
              <a:rPr sz="2400" b="0" i="0">
                <a:solidFill>
                  <a:srgbClr val="F4F4F6"/>
                </a:solidFill>
                <a:latin typeface="Montserrat"/>
              </a:rPr>
              <a:t>M/L depends on age, metallicity — and on the IMF (U-shape).</a:t>
            </a:r>
          </a:p>
          <a:p>
            <a:pPr algn="l">
              <a:spcAft>
                <a:spcPts val="1080"/>
              </a:spcAft>
            </a:pPr>
            <a:r>
              <a:rPr sz="2400" b="0" i="0">
                <a:solidFill>
                  <a:srgbClr val="F4F4F6"/>
                </a:solidFill>
                <a:latin typeface="Montserrat"/>
              </a:rPr>
              <a:t>So every galaxy mass or SFR carries an IMF assumption.</a:t>
            </a:r>
          </a:p>
          <a:p>
            <a:pPr algn="l">
              <a:spcAft>
                <a:spcPts val="1080"/>
              </a:spcAft>
            </a:pPr>
            <a:r>
              <a:rPr sz="2400" b="0" i="0">
                <a:solidFill>
                  <a:srgbClr val="F4F4F6"/>
                </a:solidFill>
                <a:latin typeface="Montserrat"/>
              </a:rPr>
              <a:t>Next time: chemistry as a clock — and the IMF again.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540"/>
              </a:spcAft>
            </a:pPr>
            <a:r>
              <a:rPr sz="1200" b="0" i="0">
                <a:solidFill>
                  <a:srgbClr val="9A9AB5"/>
                </a:solidFill>
                <a:latin typeface="Montserrat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530"/>
              </a:spcAft>
            </a:pPr>
            <a:r>
              <a:rPr sz="3400" b="1" i="0">
                <a:solidFill>
                  <a:srgbClr val="1E8FD5"/>
                </a:solidFill>
                <a:latin typeface="Montserrat"/>
              </a:rPr>
              <a:t>Homework &amp; exit ticket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24712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80"/>
              </a:spcAft>
            </a:pPr>
            <a:r>
              <a:rPr sz="2400" b="0" i="0">
                <a:solidFill>
                  <a:srgbClr val="F4F4F6"/>
                </a:solidFill>
                <a:latin typeface="Montserrat"/>
              </a:rPr>
              <a:t>Notebooks 01 (IMF) and 02 (SSPs with FaSTAR)</a:t>
            </a:r>
          </a:p>
          <a:p>
            <a:pPr algn="l">
              <a:spcAft>
                <a:spcPts val="1080"/>
              </a:spcAft>
            </a:pPr>
            <a:r>
              <a:rPr sz="2400" b="0" i="0">
                <a:solidFill>
                  <a:srgbClr val="F4F4F6"/>
                </a:solidFill>
                <a:latin typeface="Montserrat"/>
              </a:rPr>
              <a:t>github.com/Azeret/stellar-populations-lectures   [QR code]</a:t>
            </a:r>
          </a:p>
          <a:p>
            <a:pPr algn="l">
              <a:spcAft>
                <a:spcPts val="1080"/>
              </a:spcAft>
            </a:pPr>
            <a:r>
              <a:rPr sz="2400" b="0" i="0">
                <a:solidFill>
                  <a:srgbClr val="F4F4F6"/>
                </a:solidFill>
                <a:latin typeface="Montserrat"/>
              </a:rPr>
              <a:t>Slido S1.12: one thing still unclear? How was the pace?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540"/>
              </a:spcAft>
            </a:pPr>
            <a:r>
              <a:rPr sz="1200" b="0" i="0">
                <a:solidFill>
                  <a:srgbClr val="9A9AB5"/>
                </a:solidFill>
                <a:latin typeface="Montserrat"/>
              </a:rPr>
              <a:t>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